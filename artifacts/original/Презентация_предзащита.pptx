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1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1870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3" name="Shape 1"/>
          <p:cNvSpPr/>
          <p:nvPr/>
        </p:nvSpPr>
        <p:spPr>
          <a:xfrm>
            <a:off x="9585655" y="164592"/>
            <a:ext cx="2331720" cy="86868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ru-US"/>
          </a:p>
        </p:txBody>
      </p:sp>
      <p:pic>
        <p:nvPicPr>
          <p:cNvPr id="4" name="Image 0" descr="/sessions/vibrant-clever-wright/mnt/outputs/build/logo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22815" y="246888"/>
            <a:ext cx="2057400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2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7B5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ФАКУЛЬТЕТ ИНФОРМАЦИОННЫХ ТЕХНОЛОГИЙ И АНАЛИЗА БОЛЬШИХ ДАННЫХ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B3D8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КАФЕДРА ИСКУССТВЕННОГО ИНТЕЛЛЕКТА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457200" cy="36576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1783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7B5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ВЫПУСКНАЯ КВАЛИФИКАЦИОННАЯ РАБОТА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Исследование эффективности применения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нелинейных классификаторов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 задачах машинного обучения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4617720"/>
            <a:ext cx="36576" cy="1280160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77240" y="4617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7B5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ВЫПОЛНИЛА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724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Бабак Анна Романовна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7724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E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Студентка учебной группы ПМ22-6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94360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7B5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НАУЧНЫЙ РУКОВОДИТЕЛЬ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4360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Шин Владимир Игнатьевич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943600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C8DE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доцент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77240" y="6309360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00" dirty="0">
                <a:solidFill>
                  <a:srgbClr val="27B5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МОСКВ</a:t>
            </a:r>
            <a:r>
              <a:rPr lang="ru-RU" sz="1000" kern="0" spc="500" dirty="0">
                <a:solidFill>
                  <a:srgbClr val="27B5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А,</a:t>
            </a:r>
            <a:r>
              <a:rPr lang="en-US" sz="1000" kern="0" spc="500" dirty="0">
                <a:solidFill>
                  <a:srgbClr val="27B5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sessions/vibrant-clever-wright/mnt/outputs/build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4255" y="228600"/>
            <a:ext cx="210312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"/>
            <a:ext cx="8534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Объект, предмет, цель и задачи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146304" cy="146304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58952" y="1078992"/>
            <a:ext cx="1371600" cy="36576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212080" cy="4754880"/>
          </a:xfrm>
          <a:prstGeom prst="rect">
            <a:avLst/>
          </a:prstGeom>
          <a:solidFill>
            <a:srgbClr val="F4F7F8"/>
          </a:solidFill>
          <a:ln w="6350">
            <a:solidFill>
              <a:srgbClr val="D7DDDF"/>
            </a:solidFill>
            <a:prstDash val="solid"/>
          </a:ln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64008" cy="4754880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724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ОБЪЕКТ ИССЛЕДОВАНИЯ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77240" y="21214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Задача бинарной классификации в машинном обучении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77240" y="2788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ПРЕДМЕТ ИССЛЕДОВАНИЯ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77240" y="308152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Составные нелинейные классификаторы, построенные на основе линейных моделей, в их связи с принципами получения нелинейности и характеристиками задач классификации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7240" y="4297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ЦЕЛЬ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77240" y="457200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Теоретическое и экспериментальное сравнение </a:t>
            </a:r>
            <a:r>
              <a:rPr lang="en-US" sz="1300" b="1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составных нелинейных классификаторов</a:t>
            </a:r>
            <a:r>
              <a:rPr lang="en-US" sz="13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построенных из линейных моделей, в задаче бинарной классификации.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035040" y="16916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ЗАДАЧИ ИССЛЕДОВАНИЯ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080760" y="2112264"/>
            <a:ext cx="384048" cy="384048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08076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583680" y="2029968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Систематизировать </a:t>
            </a: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математические основы линейных классификаторов (LR, NB, LDA, SVM) и выявить их единую алгебраическую форму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080760" y="2825496"/>
            <a:ext cx="384048" cy="384048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08076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583680" y="274320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Сформулировать </a:t>
            </a: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пять принципов построения нелинейных классификаторов из линейных компонентов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080760" y="3538728"/>
            <a:ext cx="384048" cy="384048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08076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583680" y="3456432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Разработать </a:t>
            </a: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Python-библиотеку из 9 архитектур × 4 базовых модели на едином интерфейсе scikit-learn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080760" y="4251960"/>
            <a:ext cx="384048" cy="384048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08076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583680" y="4169664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Спроектировать </a:t>
            </a: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методологию (датасеты, метрики, CV, оптимизацию) с устранением артефакта positive-класса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080760" y="4965192"/>
            <a:ext cx="384048" cy="384048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080760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583680" y="4882896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Провести </a:t>
            </a: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эксперимент на 6 </a:t>
            </a:r>
            <a:r>
              <a:rPr lang="en-US" sz="1200" dirty="0" err="1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датасетах</a:t>
            </a: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ru-RU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</a:t>
            </a: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2 режимах с включением нелинейных бейзлайнов (RF, XGBoost, LightGBM, RBF SVM)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080760" y="5678424"/>
            <a:ext cx="384048" cy="384048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080760" y="5678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583680" y="5596128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Проанализировать </a:t>
            </a: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результаты в координатах «качество × скорость» (Парето) и сформулировать рекомендации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/ 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ВКР · Бабак А.Р. · 2026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sessions/vibrant-clever-wright/mnt/outputs/build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4255" y="228600"/>
            <a:ext cx="210312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"/>
            <a:ext cx="8534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Положения, выносимые на защиту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146304" cy="146304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58952" y="1078992"/>
            <a:ext cx="1371600" cy="36576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1207008"/>
            <a:ext cx="8534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Утверждения, обоснованные теоретически и подтверждённые экспериментально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5321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F"/>
            </a:solidFill>
            <a:prstDash val="solid"/>
          </a:ln>
          <a:effectLst>
            <a:outerShdw blurRad="76200" dist="19050" dir="5400000" algn="bl" rotWithShape="0">
              <a:srgbClr val="8AAFB4">
                <a:alpha val="20000"/>
              </a:srgbClr>
            </a:outerShdw>
          </a:effectLst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1691640"/>
            <a:ext cx="64008" cy="2194560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77240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168A8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463040" y="18745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Систематика 5 принципов нелинейности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77240" y="2423160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Установлено, что все девять предлагаемых архитектур составных классификаторов инстанциируют один из пяти принципов: преобразование признакового пространства, ансамблирование, последовательная композиция, локализация, нелинейная комбинация скоров — и эта классификация полна для семейств линейных компонент.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217920" y="1691640"/>
            <a:ext cx="55321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F"/>
            </a:solidFill>
            <a:prstDash val="solid"/>
          </a:ln>
          <a:effectLst>
            <a:outerShdw blurRad="76200" dist="19050" dir="5400000" algn="bl" rotWithShape="0">
              <a:srgbClr val="8AAFB4">
                <a:alpha val="20000"/>
              </a:srgbClr>
            </a:outerShdw>
          </a:effectLst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217920" y="1691640"/>
            <a:ext cx="64008" cy="2194560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46520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168A8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II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132320" y="18745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Девять архитектур на едином интерфейсе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46520" y="2423160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Реализован совокупный программный интерфейс ComposedClassifier (совместимый со scikit-learn), параметризованный выбором базовой линейной модели (LR / SGD / LDA / NB), что обеспечивает единую методологию оценки 35 нелинейных конфигураций.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48640" y="4069080"/>
            <a:ext cx="55321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F"/>
            </a:solidFill>
            <a:prstDash val="solid"/>
          </a:ln>
          <a:effectLst>
            <a:outerShdw blurRad="76200" dist="19050" dir="5400000" algn="bl" rotWithShape="0">
              <a:srgbClr val="8AAFB4">
                <a:alpha val="20000"/>
              </a:srgbClr>
            </a:outerShdw>
          </a:effectLst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48640" y="4069080"/>
            <a:ext cx="64008" cy="2194560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77240" y="4206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168A8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III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463040" y="42519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Корректная методология на дисбалансе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77240" y="4800600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Сформулирован методологический инвариант «положительный класс — миноритарный» (_ensure_minority_positive) и обоснован выбор PR-AUC как приоритетной метрики на сильно несбалансированных датасетах. Устранена систематическая ошибка завышения F1, выявленная на SECOM Selected.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217920" y="4069080"/>
            <a:ext cx="55321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F"/>
            </a:solidFill>
            <a:prstDash val="solid"/>
          </a:ln>
          <a:effectLst>
            <a:outerShdw blurRad="76200" dist="19050" dir="5400000" algn="bl" rotWithShape="0">
              <a:srgbClr val="8AAFB4">
                <a:alpha val="20000"/>
              </a:srgbClr>
            </a:outerShdw>
          </a:effectLst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217920" y="4069080"/>
            <a:ext cx="64008" cy="2194560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446520" y="4206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168A8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IV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132320" y="42519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Эмпирически обоснованные рекомендации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446520" y="4800600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 215 парам «</a:t>
            </a:r>
            <a:r>
              <a:rPr lang="en-US" sz="1150" dirty="0" err="1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архитектура</a:t>
            </a:r>
            <a:r>
              <a:rPr lang="en-US" sz="115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x датасет» установлено: </a:t>
            </a:r>
            <a:endParaRPr lang="ru-RU" sz="1150" dirty="0">
              <a:solidFill>
                <a:srgbClr val="1F2D33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 err="1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SplineFeaturesClassifier</a:t>
            </a:r>
            <a:r>
              <a:rPr lang="en-US" sz="115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оптимальный выбор по умолчанию (avg F1 = 0,708), </a:t>
            </a:r>
            <a:endParaRPr lang="ru-RU" sz="1150" dirty="0">
              <a:solidFill>
                <a:srgbClr val="1F2D33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 err="1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PiecewiseLinearClassifier</a:t>
            </a:r>
            <a:r>
              <a:rPr lang="en-US" sz="115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оптимальный после Optuna (avg F1 = 0,756); </a:t>
            </a:r>
            <a:endParaRPr lang="ru-RU" sz="1150" dirty="0">
              <a:solidFill>
                <a:srgbClr val="1F2D33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 err="1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пара</a:t>
            </a:r>
            <a:r>
              <a:rPr lang="en-US" sz="115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покрывает оба сценария применения.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/ 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12648" y="6400800"/>
            <a:ext cx="7159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ВКР · Бабак А.Р. · 2026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sessions/vibrant-clever-wright/mnt/outputs/build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4255" y="228600"/>
            <a:ext cx="210312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"/>
            <a:ext cx="8534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Постановка задачи и научные гипотезы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146304" cy="146304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58952" y="1078992"/>
            <a:ext cx="1371600" cy="36576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212080" cy="4663440"/>
          </a:xfrm>
          <a:prstGeom prst="rect">
            <a:avLst/>
          </a:prstGeom>
          <a:solidFill>
            <a:srgbClr val="F4F7F8"/>
          </a:solidFill>
          <a:ln w="6350">
            <a:solidFill>
              <a:srgbClr val="D7DDDF"/>
            </a:solidFill>
            <a:prstDash val="solid"/>
          </a:ln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724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ПРОБЛЕМА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77240" y="2121408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Линейные классификаторы (LR, NB, LDA, SVM) обладают теорией, скоростью и интерпретируемостью, но </a:t>
            </a:r>
            <a:r>
              <a:rPr lang="en-US" sz="1200" b="1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ограничены гиперплоскостью</a:t>
            </a: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Существующие нелинейные альтернативы — ядерный SVM (O(n²d) по [Cortes &amp; Vapnik, 1995]), деревья и нейросети — теряют интерпретируемость.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77240" y="3840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ТЕОРЕТИЧЕСКОЕ ОСНОВАНИЕ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77240" y="416052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Разложение</a:t>
            </a: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смещения и разброса (теория </a:t>
            </a:r>
            <a:r>
              <a:rPr lang="en-US" sz="1200" dirty="0" err="1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ансамблей</a:t>
            </a: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B-</a:t>
            </a:r>
            <a:r>
              <a:rPr lang="en-US" sz="1200" dirty="0" err="1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сплайны</a:t>
            </a: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де Бура [de Boor, 2001]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EM-</a:t>
            </a:r>
            <a:r>
              <a:rPr lang="en-US" sz="1200" dirty="0" err="1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алгоритм</a:t>
            </a: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[Dempster et al., 1977]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AdaBoost [Freund &amp; Schapire, 1997]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Mixture of Experts [Jacobs et al., 1991]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Нечёткая</a:t>
            </a: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логика Заде [Zadeh, 1965]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035040" y="1691640"/>
            <a:ext cx="56692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F"/>
            </a:solidFill>
            <a:prstDash val="solid"/>
          </a:ln>
          <a:effectLst>
            <a:outerShdw blurRad="50800" dist="12700" dir="5400000" algn="bl" rotWithShape="0">
              <a:srgbClr val="99A6AB">
                <a:alpha val="18000"/>
              </a:srgbClr>
            </a:outerShdw>
          </a:effectLst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035040" y="1691640"/>
            <a:ext cx="54864" cy="1078992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199632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784848" y="18013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Составные модели &gt; линейные бейзлайны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784848" y="2194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 F1 и ROC-AUC на нелинейных задачах; обоснование — нелинейные разделяющие поверхности по построению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035040" y="2889504"/>
            <a:ext cx="56692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F"/>
            </a:solidFill>
            <a:prstDash val="solid"/>
          </a:ln>
          <a:effectLst>
            <a:outerShdw blurRad="50800" dist="12700" dir="5400000" algn="bl" rotWithShape="0">
              <a:srgbClr val="99A6AB">
                <a:alpha val="18000"/>
              </a:srgbClr>
            </a:outerShdw>
          </a:effectLst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035040" y="2889504"/>
            <a:ext cx="54864" cy="1078992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199632" y="30266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784848" y="29992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Принципы оптимальны для разных задач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784848" y="33924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преобразование, ансамбль, </a:t>
            </a:r>
            <a:r>
              <a:rPr lang="en-US" sz="1000" i="1" dirty="0" err="1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локализация</a:t>
            </a: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каждый принцип создаёт свой тип нелинейности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035040" y="4087368"/>
            <a:ext cx="56692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F"/>
            </a:solidFill>
            <a:prstDash val="solid"/>
          </a:ln>
          <a:effectLst>
            <a:outerShdw blurRad="50800" dist="12700" dir="5400000" algn="bl" rotWithShape="0">
              <a:srgbClr val="99A6AB">
                <a:alpha val="18000"/>
              </a:srgbClr>
            </a:outerShdw>
          </a:effectLst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035040" y="4087368"/>
            <a:ext cx="54864" cy="1078992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199632" y="4224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H3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784848" y="419709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Optuna значимо улучшает качество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784848" y="45902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TPE с 50 trials, парный бутстрап (2000 подвыборок), 95% CI, односторонний p-уровень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035040" y="5285232"/>
            <a:ext cx="56692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F"/>
            </a:solidFill>
            <a:prstDash val="solid"/>
          </a:ln>
          <a:effectLst>
            <a:outerShdw blurRad="50800" dist="12700" dir="5400000" algn="bl" rotWithShape="0">
              <a:srgbClr val="99A6AB">
                <a:alpha val="18000"/>
              </a:srgbClr>
            </a:outerShdw>
          </a:effectLst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035040" y="5285232"/>
            <a:ext cx="54864" cy="1078992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199632" y="54223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H4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784848" y="5394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Время обучения ≤ 2 порядков от линейных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784848" y="57881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 </a:t>
            </a:r>
            <a:r>
              <a:rPr lang="en-US" sz="1000" i="1" dirty="0" err="1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</a:t>
            </a: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5–15 меньше LightGBM/XGBoost; в десятки раз меньше ядерного SVM на крупных датасетах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/ 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70516" y="6400800"/>
            <a:ext cx="73018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ВКР · Бабак А.Р. · 2026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sessions/vibrant-clever-wright/mnt/outputs/build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4255" y="228600"/>
            <a:ext cx="210312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"/>
            <a:ext cx="8534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Линейные классификаторы → 5 принципов нелинейности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088136"/>
            <a:ext cx="146304" cy="146304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22960" y="1124712"/>
            <a:ext cx="1371600" cy="36576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1207008"/>
            <a:ext cx="8534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Единая алгебраическая форма решающего правила и принципы её обобщения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ЛИНЕЙНЫЕ КЛАССИФИКАТОРЫ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2606040" cy="685800"/>
          </a:xfrm>
          <a:prstGeom prst="rect">
            <a:avLst/>
          </a:prstGeom>
          <a:solidFill>
            <a:srgbClr val="F4F7F8"/>
          </a:solidFill>
          <a:ln w="6350">
            <a:solidFill>
              <a:srgbClr val="D7DDDF"/>
            </a:solidFill>
            <a:prstDash val="solid"/>
          </a:ln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58368" y="20482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Logistic Regression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58368" y="234086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log-loss + L2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8368" y="251460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[Cox, 1958]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91840" y="2011680"/>
            <a:ext cx="2606040" cy="685800"/>
          </a:xfrm>
          <a:prstGeom prst="rect">
            <a:avLst/>
          </a:prstGeom>
          <a:solidFill>
            <a:srgbClr val="F4F7F8"/>
          </a:solidFill>
          <a:ln w="6350">
            <a:solidFill>
              <a:srgbClr val="D7DDDF"/>
            </a:solidFill>
            <a:prstDash val="solid"/>
          </a:ln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401568" y="20482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Naive Bayes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401568" y="234086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MLE по классу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401568" y="251460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[Mosteller-Wallace, 1964]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48640" y="2788920"/>
            <a:ext cx="2606040" cy="731520"/>
          </a:xfrm>
          <a:prstGeom prst="rect">
            <a:avLst/>
          </a:prstGeom>
          <a:solidFill>
            <a:srgbClr val="F4F7F8"/>
          </a:solidFill>
          <a:ln w="6350">
            <a:solidFill>
              <a:srgbClr val="D7DDDF"/>
            </a:solidFill>
            <a:prstDash val="solid"/>
          </a:ln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58368" y="28254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LDA (Fisher)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58368" y="311810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MLE + общая Σ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58368" y="329184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[Fisher, 1936]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91840" y="2788920"/>
            <a:ext cx="2606040" cy="731520"/>
          </a:xfrm>
          <a:prstGeom prst="rect">
            <a:avLst/>
          </a:prstGeom>
          <a:solidFill>
            <a:srgbClr val="F4F7F8"/>
          </a:solidFill>
          <a:ln w="6350">
            <a:solidFill>
              <a:srgbClr val="D7DDDF"/>
            </a:solidFill>
            <a:prstDash val="solid"/>
          </a:ln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401568" y="28254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SVM (linear)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401568" y="311810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hinge loss + L2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401568" y="329184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[Cortes-Vapnik, 1995]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48640" y="3611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⇣  ЕДИНАЯ ФОРМА  ⇣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22960" y="402336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0F3B45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22960" y="40233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48640" y="53675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Различаются функцией потерь, но дают ОДНУ форму — гиперплоскость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126480" y="16916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ПРИНЦИПОВ НЕЛИНЕЙНОСТИ → 9 АРХИТЕКТУР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126480" y="2176272"/>
            <a:ext cx="457200" cy="457200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12648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693408" y="2057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Преобразование признаков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693408" y="2606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Polynomial · Spline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126480" y="3063240"/>
            <a:ext cx="457200" cy="457200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1264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693408" y="29443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Ансамблирование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693408" y="32644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усреднение / голосование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693408" y="34930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LinearBoost · Bagging · MaxOfLinear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6126480" y="3950208"/>
            <a:ext cx="457200" cy="457200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12648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693408" y="383133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Последовательная композиция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693408" y="415137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каскад моделей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6693408" y="437997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Cascade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6126480" y="4837176"/>
            <a:ext cx="457200" cy="457200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612648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6693408" y="47183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Локализация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6693408" y="503834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разбиение пространства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6693408" y="526694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Piecewise · Mixture of Experts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6126480" y="5724144"/>
            <a:ext cx="457200" cy="457200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6126480" y="5724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6693408" y="56052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Нелинейная комбинация скоров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6693408" y="5925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AND / OR / XOR над ŷ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6693408" y="61539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FuzzyLogic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/ 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ВКР · Бабак А.Р. · 2026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D9B83F0-7379-3737-5D2A-D06AD01F5D47}"/>
                  </a:ext>
                </a:extLst>
              </p:cNvPr>
              <p:cNvSpPr txBox="1"/>
              <p:nvPr/>
            </p:nvSpPr>
            <p:spPr>
              <a:xfrm>
                <a:off x="1418208" y="4228314"/>
                <a:ext cx="3326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ar-A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D9B83F0-7379-3737-5D2A-D06AD01F5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208" y="4228314"/>
                <a:ext cx="3326640" cy="369332"/>
              </a:xfrm>
              <a:prstGeom prst="rect">
                <a:avLst/>
              </a:prstGeom>
              <a:blipFill>
                <a:blip r:embed="rId4"/>
                <a:stretch>
                  <a:fillRect t="-10345" b="-27586"/>
                </a:stretch>
              </a:blipFill>
            </p:spPr>
            <p:txBody>
              <a:bodyPr/>
              <a:lstStyle/>
              <a:p>
                <a:r>
                  <a:rPr lang="ru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92F1A74-5FF6-BDB0-B82B-01C7A1A7B08A}"/>
                  </a:ext>
                </a:extLst>
              </p:cNvPr>
              <p:cNvSpPr txBox="1"/>
              <p:nvPr/>
            </p:nvSpPr>
            <p:spPr>
              <a:xfrm>
                <a:off x="1094439" y="4855464"/>
                <a:ext cx="3974177" cy="464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ru-RU" sz="120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20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ar-AE" sz="1200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120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20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ar-AE" sz="1200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1200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ar-AE" sz="1200" i="0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ar-AE" sz="1200" dirty="0"/>
              </a:p>
              <a:p>
                <a:pPr rtl="0">
                  <a:buNone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 — </a:t>
                </a:r>
                <a:r>
                  <a:rPr lang="ru-RU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вектор весов;  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— </a:t>
                </a:r>
                <a:r>
                  <a:rPr lang="ru-RU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вектор признаков;  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— </a:t>
                </a:r>
                <a:r>
                  <a:rPr lang="ru-RU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смещение</a:t>
                </a:r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92F1A74-5FF6-BDB0-B82B-01C7A1A7B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439" y="4855464"/>
                <a:ext cx="3974177" cy="464999"/>
              </a:xfrm>
              <a:prstGeom prst="rect">
                <a:avLst/>
              </a:prstGeom>
              <a:blipFill>
                <a:blip r:embed="rId5"/>
                <a:stretch>
                  <a:fillRect l="-319" b="-5263"/>
                </a:stretch>
              </a:blipFill>
            </p:spPr>
            <p:txBody>
              <a:bodyPr/>
              <a:lstStyle/>
              <a:p>
                <a:r>
                  <a:rPr lang="ru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057FDDB-23F7-73E7-C64A-48F307D0F273}"/>
                  </a:ext>
                </a:extLst>
              </p:cNvPr>
              <p:cNvSpPr txBox="1"/>
              <p:nvPr/>
            </p:nvSpPr>
            <p:spPr>
              <a:xfrm>
                <a:off x="7066039" y="2277788"/>
                <a:ext cx="2463243" cy="4413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spline</m:t>
                          </m:r>
                        </m:sub>
                      </m:sSub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057FDDB-23F7-73E7-C64A-48F307D0F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6039" y="2277788"/>
                <a:ext cx="2463243" cy="441339"/>
              </a:xfrm>
              <a:prstGeom prst="rect">
                <a:avLst/>
              </a:prstGeom>
              <a:blipFill>
                <a:blip r:embed="rId6"/>
                <a:stretch>
                  <a:fillRect t="-8333" b="-8333"/>
                </a:stretch>
              </a:blipFill>
            </p:spPr>
            <p:txBody>
              <a:bodyPr/>
              <a:lstStyle/>
              <a:p>
                <a:r>
                  <a:rPr lang="ru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/>
          </a:p>
        </p:txBody>
      </p:sp>
      <p:pic>
        <p:nvPicPr>
          <p:cNvPr id="3" name="Image 0" descr="/sessions/vibrant-clever-wright/mnt/outputs/build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4255" y="228600"/>
            <a:ext cx="210312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"/>
            <a:ext cx="8534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Экспериментальные датасеты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146304" cy="146304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6" name="Shape 3"/>
          <p:cNvSpPr/>
          <p:nvPr/>
        </p:nvSpPr>
        <p:spPr>
          <a:xfrm>
            <a:off x="758952" y="1078992"/>
            <a:ext cx="1371600" cy="36576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7" name="Text 4"/>
          <p:cNvSpPr/>
          <p:nvPr/>
        </p:nvSpPr>
        <p:spPr>
          <a:xfrm>
            <a:off x="548640" y="1207008"/>
            <a:ext cx="8534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датасетов покрывают пространство «</a:t>
            </a:r>
            <a:r>
              <a:rPr lang="en-US" sz="1300" i="1" dirty="0" err="1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</a:t>
            </a:r>
            <a:r>
              <a:rPr lang="en-US" sz="13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</a:t>
            </a:r>
            <a:r>
              <a:rPr lang="en-US" sz="1300" i="1" dirty="0" err="1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размерность</a:t>
            </a:r>
            <a:r>
              <a:rPr lang="en-US" sz="13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</a:t>
            </a:r>
            <a:r>
              <a:rPr lang="en-US" sz="1300" i="1" dirty="0" err="1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дисбаланс</a:t>
            </a:r>
            <a:r>
              <a:rPr lang="en-US" sz="13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сложность»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593417"/>
              </p:ext>
            </p:extLst>
          </p:nvPr>
        </p:nvGraphicFramePr>
        <p:xfrm>
          <a:off x="548640" y="1691640"/>
          <a:ext cx="11201400" cy="4023362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4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№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Датасет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Доля «+»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Источник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Сложность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Breast Cancer (Wisconsin)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569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30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37%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[Wolberg &amp; Mangasarian, 1990]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почти линейно разделим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Adult (Census Income)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48,8 тыс.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14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24%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[Kohavi, 1996]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нелинейные взаимодействия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Bank Marketing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45,2 тыс.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16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12%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[Moro et al., 2014]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слабый сигнал, шум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Credit Card Fraud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284,8 тыс.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30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0,17%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[Pozzolo et al., 2015]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экстремальный дисбаланс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SECOM (semiconductor)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1567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590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6%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[McCann &amp; Johnston, 2008]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высокая d, дисбаланс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SECOM Selected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1567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25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6%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(многоэтапный отбор)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тест эффекта отбора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852160"/>
            <a:ext cx="2697480" cy="640080"/>
          </a:xfrm>
          <a:prstGeom prst="rect">
            <a:avLst/>
          </a:prstGeom>
          <a:solidFill>
            <a:srgbClr val="F4F7F8"/>
          </a:solidFill>
          <a:ln w="6350">
            <a:solidFill>
              <a:srgbClr val="D7DDD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0" name="Shape 6"/>
          <p:cNvSpPr/>
          <p:nvPr/>
        </p:nvSpPr>
        <p:spPr>
          <a:xfrm>
            <a:off x="548640" y="5852160"/>
            <a:ext cx="64008" cy="640080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11" name="Text 7"/>
          <p:cNvSpPr/>
          <p:nvPr/>
        </p:nvSpPr>
        <p:spPr>
          <a:xfrm>
            <a:off x="713232" y="5879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565 → 285K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13232" y="6159061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выборки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410712" y="5852160"/>
            <a:ext cx="2697480" cy="640080"/>
          </a:xfrm>
          <a:prstGeom prst="rect">
            <a:avLst/>
          </a:prstGeom>
          <a:solidFill>
            <a:srgbClr val="F4F7F8"/>
          </a:solidFill>
          <a:ln w="6350">
            <a:solidFill>
              <a:srgbClr val="D7DDD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4" name="Shape 10"/>
          <p:cNvSpPr/>
          <p:nvPr/>
        </p:nvSpPr>
        <p:spPr>
          <a:xfrm>
            <a:off x="3410712" y="5852160"/>
            <a:ext cx="64008" cy="640080"/>
          </a:xfrm>
          <a:prstGeom prst="rect">
            <a:avLst/>
          </a:prstGeom>
          <a:solidFill>
            <a:srgbClr val="0F3B45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15" name="Text 11"/>
          <p:cNvSpPr/>
          <p:nvPr/>
        </p:nvSpPr>
        <p:spPr>
          <a:xfrm>
            <a:off x="3575304" y="5879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→ 590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75304" y="6159061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размерность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72784" y="5852160"/>
            <a:ext cx="2697480" cy="640080"/>
          </a:xfrm>
          <a:prstGeom prst="rect">
            <a:avLst/>
          </a:prstGeom>
          <a:solidFill>
            <a:srgbClr val="F4F7F8"/>
          </a:solidFill>
          <a:ln w="6350">
            <a:solidFill>
              <a:srgbClr val="D7DDD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8" name="Shape 14"/>
          <p:cNvSpPr/>
          <p:nvPr/>
        </p:nvSpPr>
        <p:spPr>
          <a:xfrm>
            <a:off x="6272784" y="5852160"/>
            <a:ext cx="64008" cy="6400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19" name="Text 15"/>
          <p:cNvSpPr/>
          <p:nvPr/>
        </p:nvSpPr>
        <p:spPr>
          <a:xfrm>
            <a:off x="6437376" y="5879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0,17% → 37%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437376" y="617220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дисбаланс классов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9134856" y="5852160"/>
            <a:ext cx="2697480" cy="640080"/>
          </a:xfrm>
          <a:prstGeom prst="rect">
            <a:avLst/>
          </a:prstGeom>
          <a:solidFill>
            <a:srgbClr val="F4F7F8"/>
          </a:solidFill>
          <a:ln w="6350">
            <a:solidFill>
              <a:srgbClr val="D7DDD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2" name="Shape 18"/>
          <p:cNvSpPr/>
          <p:nvPr/>
        </p:nvSpPr>
        <p:spPr>
          <a:xfrm>
            <a:off x="9134856" y="5852160"/>
            <a:ext cx="66920" cy="640080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23" name="Text 19"/>
          <p:cNvSpPr/>
          <p:nvPr/>
        </p:nvSpPr>
        <p:spPr>
          <a:xfrm>
            <a:off x="9299448" y="5879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9250612" y="6172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доменов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0835640" y="6519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48640" y="651053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· Бабак А.Р. ·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sessions/vibrant-clever-wright/mnt/outputs/build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4255" y="228600"/>
            <a:ext cx="210312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"/>
            <a:ext cx="8534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Методология экспериментального исследования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146304" cy="146304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58952" y="1078992"/>
            <a:ext cx="1371600" cy="36576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1207008"/>
            <a:ext cx="8534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Стратифицированная 5-fold CV, </a:t>
            </a:r>
            <a:r>
              <a:rPr lang="en-US" sz="1300" i="1" dirty="0" err="1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Optuna</a:t>
            </a:r>
            <a:r>
              <a:rPr lang="en-US" sz="13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50 trials, </a:t>
            </a:r>
            <a:r>
              <a:rPr lang="en-US" sz="1300" i="1" dirty="0" err="1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Парный</a:t>
            </a:r>
            <a:r>
              <a:rPr lang="en-US" sz="13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бутстрап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94360" y="1874520"/>
            <a:ext cx="502920" cy="502920"/>
          </a:xfrm>
          <a:prstGeom prst="ellipse">
            <a:avLst/>
          </a:prstGeom>
          <a:solidFill>
            <a:srgbClr val="0F3B45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43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41248" y="2495025"/>
            <a:ext cx="36576" cy="420624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80160" y="18562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Предобработка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80160" y="221284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медианная импутация → StandardScaler внутри фолда (без утечки) → инвариант positive=minority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94360" y="3035808"/>
            <a:ext cx="502920" cy="502920"/>
          </a:xfrm>
          <a:prstGeom prst="ellipse">
            <a:avLst/>
          </a:prstGeom>
          <a:solidFill>
            <a:srgbClr val="0F3B45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9436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48528" y="3657600"/>
            <a:ext cx="36576" cy="420624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280160" y="3017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Внешняя оценка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280160" y="337413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стратифицированная 5-fold CV,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00" i="1" dirty="0" err="1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random_state</a:t>
            </a:r>
            <a:r>
              <a:rPr lang="en-US" sz="11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=42 — общая для default и tuned режимов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94360" y="4197096"/>
            <a:ext cx="502920" cy="502920"/>
          </a:xfrm>
          <a:prstGeom prst="ellipse">
            <a:avLst/>
          </a:prstGeom>
          <a:solidFill>
            <a:srgbClr val="0F3B45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9436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48528" y="4791456"/>
            <a:ext cx="36576" cy="420624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280160" y="41788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Внутренний тюнинг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280160" y="453542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Optuna TPE [Akiba et al., 2019],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50 trials, та же 5-fold на train-фолде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94360" y="5358384"/>
            <a:ext cx="502920" cy="502920"/>
          </a:xfrm>
          <a:prstGeom prst="ellipse">
            <a:avLst/>
          </a:prstGeom>
          <a:solidFill>
            <a:srgbClr val="0F3B45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94360" y="5358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280160" y="534009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Парное сравнение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280160" y="569671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Δ F1 = F1(tuned) − F1(default),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00" i="1" dirty="0" err="1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парный</a:t>
            </a:r>
            <a:r>
              <a:rPr lang="en-US" sz="11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бутстрап (2000 подвыборок), 95% CI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903720" y="1691640"/>
            <a:ext cx="4846320" cy="4754880"/>
          </a:xfrm>
          <a:prstGeom prst="rect">
            <a:avLst/>
          </a:prstGeom>
          <a:solidFill>
            <a:srgbClr val="F4F7F8"/>
          </a:solidFill>
          <a:ln w="6350">
            <a:solidFill>
              <a:srgbClr val="D7DDDF"/>
            </a:solidFill>
            <a:prstDash val="solid"/>
          </a:ln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040880" y="18288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ПАРАМЕТРЫ ЭКСПЕРИМЕНТА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04088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43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040880" y="2606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конфигураций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040880" y="2907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линейных + 4 нелинейных бейзлайна + 35 составных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04088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× 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040880" y="3657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режимов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7040880" y="3959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датасетов × {default, tuned}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04088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516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7040880" y="4709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оценок CV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040880" y="5010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43 x 6 x 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040880" y="5349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7040880" y="5760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метрик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7040880" y="6062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 (positive=minority), PR-AUC, ROC-AUC, F1-macro, balanced acc, время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11002975" y="6400800"/>
            <a:ext cx="74706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/ 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ВКР · Бабак А.Р. · 2026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/>
          </a:p>
        </p:txBody>
      </p:sp>
      <p:pic>
        <p:nvPicPr>
          <p:cNvPr id="3" name="Image 0" descr="/sessions/vibrant-clever-wright/mnt/outputs/build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4255" y="228600"/>
            <a:ext cx="210312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"/>
            <a:ext cx="8534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Лидеры исследования — Spline и Piecewise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146304" cy="146304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6" name="Shape 3"/>
          <p:cNvSpPr/>
          <p:nvPr/>
        </p:nvSpPr>
        <p:spPr>
          <a:xfrm>
            <a:off x="758952" y="1078992"/>
            <a:ext cx="1371600" cy="36576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7" name="Text 4"/>
          <p:cNvSpPr/>
          <p:nvPr/>
        </p:nvSpPr>
        <p:spPr>
          <a:xfrm>
            <a:off x="548640" y="1207008"/>
            <a:ext cx="8534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Дополняющая пара: лучшая «по умолчанию» и лучшая «после Optuna»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486400" cy="4654296"/>
          </a:xfrm>
          <a:prstGeom prst="rect">
            <a:avLst/>
          </a:prstGeom>
          <a:solidFill>
            <a:srgbClr val="FFFFFF"/>
          </a:solidFill>
          <a:ln w="19050">
            <a:solidFill>
              <a:srgbClr val="168A8E"/>
            </a:solidFill>
            <a:prstDash val="solid"/>
          </a:ln>
          <a:effectLst>
            <a:outerShdw blurRad="101600" dist="25400" dir="5400000" algn="bl" rotWithShape="0">
              <a:srgbClr val="8AAFB4">
                <a:alpha val="2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9" name="Shape 6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solidFill>
            <a:srgbClr val="0F3B45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10" name="Text 7"/>
          <p:cNvSpPr/>
          <p:nvPr/>
        </p:nvSpPr>
        <p:spPr>
          <a:xfrm>
            <a:off x="77724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SplineFeaturesClassifier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724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6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1 · GAM · [de Boor, 2001]</a:t>
            </a:r>
            <a:endParaRPr lang="en-US" sz="1100" dirty="0"/>
          </a:p>
        </p:txBody>
      </p:sp>
      <p:pic>
        <p:nvPicPr>
          <p:cNvPr id="12" name="Image 1" descr="/sessions/vibrant-clever-wright/mnt/outputs/figures/fig_bsplin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7240" y="2578608"/>
            <a:ext cx="5029200" cy="21031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" y="5001768"/>
            <a:ext cx="4937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Локальность носителя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Разбиение единицы → стабильность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Линейность по параметрам → выпуклая задача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180731" y="5815584"/>
            <a:ext cx="4616832" cy="448056"/>
          </a:xfrm>
          <a:prstGeom prst="rect">
            <a:avLst/>
          </a:prstGeom>
          <a:solidFill>
            <a:srgbClr val="F4F7F8"/>
          </a:solidFill>
          <a:ln w="6350">
            <a:solidFill>
              <a:srgbClr val="D7DDD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6" name="Text 12"/>
          <p:cNvSpPr/>
          <p:nvPr/>
        </p:nvSpPr>
        <p:spPr>
          <a:xfrm>
            <a:off x="1278385" y="5760720"/>
            <a:ext cx="2370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0,708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648723" y="5760720"/>
            <a:ext cx="18820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1-е место без тюнинга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63640" y="1691640"/>
            <a:ext cx="5486400" cy="4654296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blurRad="101600" dist="25400" dir="5400000" algn="bl" rotWithShape="0">
              <a:srgbClr val="8AAFB4">
                <a:alpha val="22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9" name="Shape 15"/>
          <p:cNvSpPr/>
          <p:nvPr/>
        </p:nvSpPr>
        <p:spPr>
          <a:xfrm>
            <a:off x="6263640" y="1691640"/>
            <a:ext cx="5486400" cy="457200"/>
          </a:xfrm>
          <a:prstGeom prst="rect">
            <a:avLst/>
          </a:prstGeom>
          <a:solidFill>
            <a:srgbClr val="0F3B45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20" name="Text 16"/>
          <p:cNvSpPr/>
          <p:nvPr/>
        </p:nvSpPr>
        <p:spPr>
          <a:xfrm>
            <a:off x="649224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PiecewiseLinearClassifier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49224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4 · K-Means + локальные линейные модели</a:t>
            </a:r>
            <a:endParaRPr lang="en-US" sz="1100" dirty="0"/>
          </a:p>
        </p:txBody>
      </p:sp>
      <p:pic>
        <p:nvPicPr>
          <p:cNvPr id="22" name="Image 2" descr="/sessions/vibrant-clever-wright/mnt/outputs/figures/fig_kmeans_region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92240" y="2578608"/>
            <a:ext cx="5029200" cy="21031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18"/>
              <p:cNvSpPr/>
              <p:nvPr/>
            </p:nvSpPr>
            <p:spPr>
              <a:xfrm>
                <a:off x="8831062" y="4487293"/>
                <a:ext cx="2873258" cy="89852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/>
                        <m:t>𝑓</m:t>
                      </m:r>
                      <m:d>
                        <m:dPr>
                          <m:ctrlPr>
                            <a:rPr lang="ar-AE" sz="1200" i="1"/>
                          </m:ctrlPr>
                        </m:dPr>
                        <m:e>
                          <m:r>
                            <a:rPr lang="ar-AE" sz="1200" i="1"/>
                            <m:t>𝑥</m:t>
                          </m:r>
                        </m:e>
                      </m:d>
                      <m:r>
                        <a:rPr lang="ar-AE" sz="1200"/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sz="1200" i="1"/>
                          </m:ctrlPr>
                        </m:naryPr>
                        <m:sub>
                          <m:r>
                            <a:rPr lang="ar-AE" sz="1200" i="1"/>
                            <m:t>𝑘</m:t>
                          </m:r>
                          <m:r>
                            <a:rPr lang="ar-AE" sz="1200"/>
                            <m:t>=1</m:t>
                          </m:r>
                        </m:sub>
                        <m:sup>
                          <m:r>
                            <a:rPr lang="ar-AE" sz="1200" i="1"/>
                            <m:t>𝐾</m:t>
                          </m:r>
                        </m:sup>
                        <m:e>
                          <m:r>
                            <a:rPr lang="ar-AE" sz="1200" i="1"/>
                            <m:t>𝐼</m:t>
                          </m:r>
                        </m:e>
                      </m:nary>
                      <m:d>
                        <m:dPr>
                          <m:ctrlPr>
                            <a:rPr lang="ar-AE" sz="1200" i="1"/>
                          </m:ctrlPr>
                        </m:dPr>
                        <m:e>
                          <m:r>
                            <a:rPr lang="ar-AE" sz="1200" i="1"/>
                            <m:t>𝑥</m:t>
                          </m:r>
                          <m:r>
                            <a:rPr lang="ar-AE" sz="1200"/>
                            <m:t>∈</m:t>
                          </m:r>
                          <m:sSub>
                            <m:sSubPr>
                              <m:ctrlPr>
                                <a:rPr lang="ar-AE" sz="1200" i="1"/>
                              </m:ctrlPr>
                            </m:sSubPr>
                            <m:e>
                              <m:r>
                                <a:rPr lang="ar-AE" sz="1200" i="1"/>
                                <m:t>𝑅</m:t>
                              </m:r>
                            </m:e>
                            <m:sub>
                              <m:r>
                                <a:rPr lang="ar-AE" sz="1200" i="1"/>
                                <m:t>𝑘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ar-AE" sz="1200" i="1"/>
                          </m:ctrlPr>
                        </m:dPr>
                        <m:e>
                          <m:sSubSup>
                            <m:sSubSupPr>
                              <m:ctrlPr>
                                <a:rPr lang="ar-AE" sz="1200" i="1"/>
                              </m:ctrlPr>
                            </m:sSubSupPr>
                            <m:e>
                              <m:r>
                                <a:rPr lang="ar-AE" sz="1200" i="1"/>
                                <m:t>𝑤</m:t>
                              </m:r>
                            </m:e>
                            <m:sub>
                              <m:r>
                                <a:rPr lang="ar-AE" sz="1200" i="1"/>
                                <m:t>𝑘</m:t>
                              </m:r>
                            </m:sub>
                            <m:sup>
                              <m:r>
                                <a:rPr lang="ar-AE" sz="1200" i="1"/>
                                <m:t>𝑇</m:t>
                              </m:r>
                            </m:sup>
                          </m:sSubSup>
                          <m:r>
                            <a:rPr lang="ar-AE" sz="1200" i="1"/>
                            <m:t>𝑥</m:t>
                          </m:r>
                          <m:r>
                            <a:rPr lang="ar-AE" sz="1200"/>
                            <m:t>+</m:t>
                          </m:r>
                          <m:sSub>
                            <m:sSubPr>
                              <m:ctrlPr>
                                <a:rPr lang="ar-AE" sz="1200" i="1"/>
                              </m:ctrlPr>
                            </m:sSubPr>
                            <m:e>
                              <m:r>
                                <a:rPr lang="ar-AE" sz="1200" i="1"/>
                                <m:t>𝑏</m:t>
                              </m:r>
                            </m:e>
                            <m:sub>
                              <m:r>
                                <a:rPr lang="ar-AE" sz="1200" i="1"/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200" dirty="0"/>
              </a:p>
            </p:txBody>
          </p:sp>
        </mc:Choice>
        <mc:Fallback>
          <p:sp>
            <p:nvSpPr>
              <p:cNvPr id="23" name="Tex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1062" y="4487293"/>
                <a:ext cx="2873258" cy="898523"/>
              </a:xfrm>
              <a:prstGeom prst="rect">
                <a:avLst/>
              </a:prstGeom>
              <a:blipFill>
                <a:blip r:embed="rId6"/>
                <a:stretch>
                  <a:fillRect t="-44444" b="-80556"/>
                </a:stretch>
              </a:blipFill>
              <a:ln/>
            </p:spPr>
            <p:txBody>
              <a:bodyPr/>
              <a:lstStyle/>
              <a:p>
                <a:r>
                  <a:rPr lang="ru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19"/>
          <p:cNvSpPr/>
          <p:nvPr/>
        </p:nvSpPr>
        <p:spPr>
          <a:xfrm>
            <a:off x="6583680" y="50749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Моделирует ВЗАИМОДЕЙСТВИЯ признаков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Захватывает пространственную неоднородность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потенциал улучшения от настройки K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951215" y="5815584"/>
            <a:ext cx="4317507" cy="448056"/>
          </a:xfrm>
          <a:prstGeom prst="rect">
            <a:avLst/>
          </a:prstGeom>
          <a:solidFill>
            <a:srgbClr val="F4F7F8"/>
          </a:solidFill>
          <a:ln w="6350">
            <a:solidFill>
              <a:srgbClr val="D7DDD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6" name="Text 21"/>
          <p:cNvSpPr/>
          <p:nvPr/>
        </p:nvSpPr>
        <p:spPr>
          <a:xfrm>
            <a:off x="7031115" y="5760720"/>
            <a:ext cx="233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0,756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9363723" y="5760720"/>
            <a:ext cx="18221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1-е место после Optuna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1002975" y="6400800"/>
            <a:ext cx="74706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· Бабак А.Р. · 2026</a:t>
            </a:r>
            <a:endParaRPr lang="en-US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FC8C180-8D28-E8BE-DB2C-904693283DD0}"/>
                  </a:ext>
                </a:extLst>
              </p:cNvPr>
              <p:cNvSpPr txBox="1"/>
              <p:nvPr/>
            </p:nvSpPr>
            <p:spPr>
              <a:xfrm>
                <a:off x="2867488" y="4676371"/>
                <a:ext cx="2831976" cy="704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4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sz="14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ar-AE" sz="14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FC8C180-8D28-E8BE-DB2C-904693283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488" y="4676371"/>
                <a:ext cx="2831976" cy="704873"/>
              </a:xfrm>
              <a:prstGeom prst="rect">
                <a:avLst/>
              </a:prstGeom>
              <a:blipFill>
                <a:blip r:embed="rId7"/>
                <a:stretch>
                  <a:fillRect t="-94643" b="-144643"/>
                </a:stretch>
              </a:blipFill>
            </p:spPr>
            <p:txBody>
              <a:bodyPr/>
              <a:lstStyle/>
              <a:p>
                <a:r>
                  <a:rPr lang="ru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/>
          </a:p>
        </p:txBody>
      </p:sp>
      <p:pic>
        <p:nvPicPr>
          <p:cNvPr id="3" name="Image 0" descr="/sessions/vibrant-clever-wright/mnt/outputs/build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4255" y="228600"/>
            <a:ext cx="210312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"/>
            <a:ext cx="8534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Сравнение архитектур и нелинейных бейзлайнов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146304" cy="146304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58952" y="1078992"/>
            <a:ext cx="1371600" cy="36576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1207008"/>
            <a:ext cx="8534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Средний F1 по 5 </a:t>
            </a:r>
            <a:r>
              <a:rPr lang="en-US" sz="1300" i="1" dirty="0" err="1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датасетам</a:t>
            </a:r>
            <a:r>
              <a:rPr lang="en-US" sz="13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4 </a:t>
            </a:r>
            <a:r>
              <a:rPr lang="en-US" sz="1300" i="1" dirty="0" err="1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базовых</a:t>
            </a:r>
            <a:r>
              <a:rPr lang="en-US" sz="13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i="1" dirty="0" err="1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модели</a:t>
            </a:r>
            <a:r>
              <a:rPr lang="en-US" sz="13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9 архитектур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664335"/>
              </p:ext>
            </p:extLst>
          </p:nvPr>
        </p:nvGraphicFramePr>
        <p:xfrm>
          <a:off x="548640" y="1691640"/>
          <a:ext cx="7680960" cy="454457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4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Ранг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Архитектура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F1 default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F1 tuned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ΔF1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Принцип нелинейности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PiecewiseLinear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0,694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9A9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0,756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+0,063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Л</a:t>
                      </a:r>
                      <a:r>
                        <a:rPr lang="en-US" sz="1150" dirty="0" err="1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окализация</a:t>
                      </a:r>
                      <a:r>
                        <a:rPr lang="ru-RU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LinearBoost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0,660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0,752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+0,092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А</a:t>
                      </a:r>
                      <a:r>
                        <a:rPr lang="en-US" sz="1150" dirty="0" err="1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нсамблирование</a:t>
                      </a:r>
                      <a:r>
                        <a:rPr lang="ru-RU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Spline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8A8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0,708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0,751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+0,043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Преобразование </a:t>
                      </a:r>
                      <a:r>
                        <a:rPr lang="en-US" sz="1150" dirty="0" err="1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признаков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Polynomial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0,691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0,718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+0,027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Преобразование </a:t>
                      </a:r>
                      <a:r>
                        <a:rPr lang="en-US" sz="1150" dirty="0" err="1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признаков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FuzzyLogic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0,665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0,699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+0,034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Нелинейная</a:t>
                      </a: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комбинация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Cascade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0,675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0,692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+0,017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П</a:t>
                      </a:r>
                      <a:r>
                        <a:rPr lang="en-US" sz="1150" dirty="0" err="1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оследовательность</a:t>
                      </a:r>
                      <a:r>
                        <a:rPr lang="ru-RU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MaxOfLinear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0,668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0,684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+0,016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А</a:t>
                      </a:r>
                      <a:r>
                        <a:rPr lang="en-US" sz="1150" dirty="0" err="1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нсамблирование</a:t>
                      </a:r>
                      <a:r>
                        <a:rPr lang="ru-RU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Bagging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0,640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0,676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+0,036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А</a:t>
                      </a:r>
                      <a:r>
                        <a:rPr lang="en-US" sz="1150" dirty="0" err="1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нсамблирование</a:t>
                      </a:r>
                      <a:r>
                        <a:rPr lang="ru-RU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4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9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MoE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0,676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0,666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−0,010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Л</a:t>
                      </a:r>
                      <a:r>
                        <a:rPr lang="en-US" sz="1150" dirty="0" err="1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окализация</a:t>
                      </a:r>
                      <a:r>
                        <a:rPr lang="ru-RU" sz="1150" dirty="0">
                          <a:solidFill>
                            <a:srgbClr val="1F2D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412480" y="1691640"/>
            <a:ext cx="3337560" cy="4544570"/>
          </a:xfrm>
          <a:prstGeom prst="rect">
            <a:avLst/>
          </a:prstGeom>
          <a:solidFill>
            <a:srgbClr val="0F3B45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9536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7B5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ВЫВОД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595360" y="2194560"/>
            <a:ext cx="30175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7B5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Spline 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лучший по умолчанию (1-е место без тюнинга): робастен и быстро развёртывается без дополнительных усилий.</a:t>
            </a: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C9A9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Piecewise 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лучший после Optuna (1-е место с тюнингом): высокий потенциал при подборе числа регионов K.</a:t>
            </a: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C8DE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 §3.9 ВКР: на нелинейных задачах LightGBM/XGBoost дают F1 на 0,01–0,04 выше, при обучении </a:t>
            </a:r>
            <a:r>
              <a:rPr lang="en-US" sz="1100" i="1" dirty="0" err="1">
                <a:solidFill>
                  <a:srgbClr val="C8DE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</a:t>
            </a:r>
            <a:r>
              <a:rPr lang="en-US" sz="1100" i="1" dirty="0">
                <a:solidFill>
                  <a:srgbClr val="C8DE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5–15 медленнее. Точные значения — в Таблице 3.6 и Приложении.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1002975" y="6400800"/>
            <a:ext cx="74706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 / 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ВКР · Бабак А. Р. · 2026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sessions/vibrant-clever-wright/mnt/outputs/build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4255" y="228600"/>
            <a:ext cx="210312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"/>
            <a:ext cx="8534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Парето-фронт «качество × скорость» (Adult)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146304" cy="146304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58952" y="1078992"/>
            <a:ext cx="1371600" cy="36576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1207008"/>
            <a:ext cx="8534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Spline и Piecewise — между линейными бейзлайнами и древесными ансамблями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/sessions/vibrant-clever-wright/mnt/outputs/figures/fig_pareto_adul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44752" y="1614493"/>
            <a:ext cx="6225519" cy="3977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616223" y="1335024"/>
            <a:ext cx="2103120" cy="4754880"/>
          </a:xfrm>
          <a:prstGeom prst="rect">
            <a:avLst/>
          </a:prstGeom>
          <a:solidFill>
            <a:srgbClr val="F4F7F8"/>
          </a:solidFill>
          <a:ln w="6350">
            <a:solidFill>
              <a:srgbClr val="D7DDDF"/>
            </a:solidFill>
            <a:prstDash val="solid"/>
          </a:ln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8616223" y="1335024"/>
            <a:ext cx="64008" cy="4754880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753383" y="1472184"/>
            <a:ext cx="1809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ИНТЕРПРЕТАЦИЯ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753383" y="1837944"/>
            <a:ext cx="1809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0,68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753383" y="22494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 Spline[logistic] на Adult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753383" y="2889504"/>
            <a:ext cx="1809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0,2 с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753383" y="33009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время обучения Spline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753383" y="3941064"/>
            <a:ext cx="1809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0,55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753383" y="43525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 BL: Logistic Regression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753383" y="4992624"/>
            <a:ext cx="1809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0,01 с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753383" y="54041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время </a:t>
            </a:r>
            <a:r>
              <a:rPr lang="en-US" sz="1000" i="1" dirty="0" err="1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обучения</a:t>
            </a: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BL</a:t>
            </a:r>
            <a:r>
              <a:rPr lang="ru-RU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0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48640" y="56327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Spline и Piecewise — на Парето-фронте между линейными и tree-ансамблями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21792" y="58475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Положения нелинейных бейзлайнов — иллюстративные оценки; финальные числа — в Таблице 3.6 и Приложении ВКР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/ 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ВКР · Бабак А.Р. · 2026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/>
          </a:p>
        </p:txBody>
      </p:sp>
      <p:pic>
        <p:nvPicPr>
          <p:cNvPr id="3" name="Image 0" descr="/sessions/vibrant-clever-wright/mnt/outputs/build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4255" y="228600"/>
            <a:ext cx="210312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"/>
            <a:ext cx="8534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B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Методологическая находка: парадокс F1 на дисбалансе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024128"/>
            <a:ext cx="146304" cy="146304"/>
          </a:xfrm>
          <a:prstGeom prst="ellipse">
            <a:avLst/>
          </a:prstGeom>
          <a:solidFill>
            <a:srgbClr val="168A8E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58952" y="1078992"/>
            <a:ext cx="1371600" cy="36576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1207008"/>
            <a:ext cx="8534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Систематическая ошибка применения F1, выявленная и устранённая в работе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ДИАГНОЗ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4243437" cy="1417320"/>
          </a:xfrm>
          <a:prstGeom prst="rect">
            <a:avLst/>
          </a:prstGeom>
          <a:solidFill>
            <a:srgbClr val="FBEEEC"/>
          </a:solidFill>
          <a:ln w="7620">
            <a:solidFill>
              <a:srgbClr val="C97468"/>
            </a:solidFill>
            <a:prstDash val="solid"/>
          </a:ln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64008" cy="1417320"/>
          </a:xfrm>
          <a:prstGeom prst="rect">
            <a:avLst/>
          </a:prstGeom>
          <a:solidFill>
            <a:srgbClr val="C97468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77241" y="2121408"/>
            <a:ext cx="389241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B33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На SECOM Selected все модели имели F1 </a:t>
            </a:r>
            <a:r>
              <a:rPr lang="ru-RU" sz="1200" b="1" dirty="0">
                <a:solidFill>
                  <a:srgbClr val="8B33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=</a:t>
            </a:r>
            <a:r>
              <a:rPr lang="en-US" sz="1200" b="1" dirty="0">
                <a:solidFill>
                  <a:srgbClr val="8B33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0,96.</a:t>
            </a:r>
            <a:r>
              <a:rPr lang="ru-RU" sz="1200" b="1" dirty="0">
                <a:solidFill>
                  <a:srgbClr val="8B33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Тривиальный</a:t>
            </a: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always-majority classifier тоже даёт F1 </a:t>
            </a:r>
            <a:r>
              <a:rPr lang="ru-RU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0,96 → </a:t>
            </a:r>
            <a:r>
              <a:rPr lang="en-US" sz="1200" b="1" i="1" dirty="0">
                <a:solidFill>
                  <a:srgbClr val="8B33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 не различает </a:t>
            </a:r>
            <a:r>
              <a:rPr lang="en-US" sz="1200" b="1" i="1" dirty="0" err="1">
                <a:solidFill>
                  <a:srgbClr val="8B33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модели</a:t>
            </a:r>
            <a:r>
              <a:rPr lang="en-US" sz="120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ru-RU" sz="1200" dirty="0">
              <a:solidFill>
                <a:srgbClr val="1F2D33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 err="1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Причина</a:t>
            </a:r>
            <a:r>
              <a:rPr lang="en-US" sz="12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</a:t>
            </a:r>
            <a:r>
              <a:rPr lang="en-US" sz="1200" i="1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LabelEncoder ставит positive=1=majority «Pass» (93%)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8640" y="3520440"/>
            <a:ext cx="42534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МАТЕМАТИКА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8640" y="3840480"/>
            <a:ext cx="4243437" cy="777240"/>
          </a:xfrm>
          <a:prstGeom prst="roundRect">
            <a:avLst>
              <a:gd name="adj" fmla="val 7059"/>
            </a:avLst>
          </a:prstGeom>
          <a:solidFill>
            <a:srgbClr val="0F3B45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8640" y="3840480"/>
            <a:ext cx="424343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Recall = 1, Precision = base rate ⇒ F1 = 2·base / (1+base)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38652" y="4594860"/>
            <a:ext cx="42434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Подставляя base = 0,933:  F1 = 2·0,933 / 1,933 = 0,9653  ✓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38652" y="4910328"/>
            <a:ext cx="42534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68A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ИСПРАВЛЕНИЕ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38652" y="5230368"/>
            <a:ext cx="4243437" cy="1083564"/>
          </a:xfrm>
          <a:prstGeom prst="rect">
            <a:avLst/>
          </a:prstGeom>
          <a:solidFill>
            <a:srgbClr val="EBF6F1"/>
          </a:solidFill>
          <a:ln w="7620">
            <a:solidFill>
              <a:srgbClr val="5B9F8F"/>
            </a:solidFill>
            <a:prstDash val="solid"/>
          </a:ln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38652" y="5230368"/>
            <a:ext cx="45719" cy="1083564"/>
          </a:xfrm>
          <a:prstGeom prst="rect">
            <a:avLst/>
          </a:prstGeom>
          <a:solidFill>
            <a:srgbClr val="5B9F8F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67252" y="5321808"/>
            <a:ext cx="37662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Инвариант: </a:t>
            </a:r>
            <a:r>
              <a:rPr lang="en-US" sz="1150" b="1" i="1" dirty="0">
                <a:solidFill>
                  <a:srgbClr val="2D5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_ensure_minority_positive(y) </a:t>
            </a:r>
            <a:r>
              <a:rPr lang="en-US" sz="115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если majority оказался кодирован как 1, метки инвертируются.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D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 приоритетная метрика — </a:t>
            </a:r>
            <a:r>
              <a:rPr lang="en-US" sz="1150" b="1" dirty="0">
                <a:solidFill>
                  <a:srgbClr val="2D5F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PR-AUC</a:t>
            </a:r>
            <a:r>
              <a:rPr lang="en-US" sz="1150" i="1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[Davis &amp; Goadrich, 2006; Saito &amp; Rehmsmeier, 2015]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1" descr="/sessions/vibrant-clever-wright/mnt/outputs/figures/fig_roc_pr_seco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66657" y="1991972"/>
            <a:ext cx="6783383" cy="3374136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796230" y="5564124"/>
            <a:ext cx="5074920" cy="457200"/>
          </a:xfrm>
          <a:prstGeom prst="rect">
            <a:avLst/>
          </a:prstGeom>
          <a:solidFill>
            <a:srgbClr val="0F3B45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796230" y="556412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ROC-AUC ∈ [0,73; 0,79] → визуально неразличимы;  PR-AUC ∈ [0,07; 0,32] → 4× разрешения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10738948" y="63139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 / 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445319" y="63596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ВКР · Бабак А.Р. · 2026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585655" y="164592"/>
            <a:ext cx="2331720" cy="86868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sessions/vibrant-clever-wright/mnt/outputs/build/logo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22815" y="246888"/>
            <a:ext cx="2057400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ВЫВОДЫ И АПРОБАЦИЯ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640" y="1005840"/>
            <a:ext cx="914400" cy="54864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2697480" cy="2331720"/>
          </a:xfrm>
          <a:prstGeom prst="rect">
            <a:avLst/>
          </a:prstGeom>
          <a:solidFill>
            <a:srgbClr val="0A2A33"/>
          </a:solidFill>
          <a:ln w="10160">
            <a:solidFill>
              <a:srgbClr val="27B5BC"/>
            </a:solidFill>
            <a:prstDash val="solid"/>
          </a:ln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73152" cy="2331720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31520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B5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Систематика и реализация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0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CEA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Сформулированы 5 принципов получения нелинейности; реализованы 9 </a:t>
            </a:r>
            <a:r>
              <a:rPr lang="en-US" sz="1000" dirty="0" err="1">
                <a:solidFill>
                  <a:srgbClr val="DCEA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архитектур</a:t>
            </a:r>
            <a:r>
              <a:rPr lang="en-US" sz="1000" dirty="0">
                <a:solidFill>
                  <a:srgbClr val="DCEA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x 4 базовых модели = 35 конфигураций.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410712" y="1280160"/>
            <a:ext cx="2697480" cy="2331720"/>
          </a:xfrm>
          <a:prstGeom prst="rect">
            <a:avLst/>
          </a:prstGeom>
          <a:solidFill>
            <a:srgbClr val="0A2A33"/>
          </a:solidFill>
          <a:ln w="10160">
            <a:solidFill>
              <a:srgbClr val="27B5BC"/>
            </a:solidFill>
            <a:prstDash val="solid"/>
          </a:ln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410712" y="1280160"/>
            <a:ext cx="73152" cy="2331720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593592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B5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593592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Лидеры исследования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593592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CEA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Spline — лучший по умолчанию (F1=0,708, 1-е место);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CEA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Piecewise — лучший после Optuna (F1=0,756, 1-е место).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CEA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Разные принципы → дополняемость.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272784" y="1280160"/>
            <a:ext cx="2697480" cy="2331720"/>
          </a:xfrm>
          <a:prstGeom prst="rect">
            <a:avLst/>
          </a:prstGeom>
          <a:solidFill>
            <a:srgbClr val="0A2A33"/>
          </a:solidFill>
          <a:ln w="10160">
            <a:solidFill>
              <a:srgbClr val="27B5BC"/>
            </a:solidFill>
            <a:prstDash val="solid"/>
          </a:ln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272784" y="1280160"/>
            <a:ext cx="73152" cy="2331720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55664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B5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55664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Ниша «</a:t>
            </a:r>
            <a:r>
              <a:rPr lang="en-US" sz="12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качество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x скорость»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455664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CEA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 §3.7 ВКР: составные модели обучаются </a:t>
            </a:r>
            <a:r>
              <a:rPr lang="en-US" sz="1000" dirty="0" err="1">
                <a:solidFill>
                  <a:srgbClr val="DCEA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</a:t>
            </a:r>
            <a:r>
              <a:rPr lang="en-US" sz="1000" dirty="0">
                <a:solidFill>
                  <a:srgbClr val="DCEA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5–15 быстрее древесных ансамблей и сравнимы по F1; в десятки раз быстрее ядерного SVM при сопоставимом качестве.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9134856" y="1280160"/>
            <a:ext cx="2697480" cy="2331720"/>
          </a:xfrm>
          <a:prstGeom prst="rect">
            <a:avLst/>
          </a:prstGeom>
          <a:solidFill>
            <a:srgbClr val="0A2A33"/>
          </a:solidFill>
          <a:ln w="10160">
            <a:solidFill>
              <a:srgbClr val="27B5BC"/>
            </a:solidFill>
            <a:prstDash val="solid"/>
          </a:ln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9134856" y="1280160"/>
            <a:ext cx="73152" cy="2331720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317736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B5B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317736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Методологический вклад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9317736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CEA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Устранён парадокс F1 на дисбалансе (positive=minority); приоритет PR-AUC; парный бутстрап для значимости.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48640" y="3840480"/>
            <a:ext cx="5532120" cy="2331720"/>
          </a:xfrm>
          <a:prstGeom prst="rect">
            <a:avLst/>
          </a:prstGeom>
          <a:solidFill>
            <a:srgbClr val="0A2A33"/>
          </a:solidFill>
          <a:ln w="10160">
            <a:solidFill>
              <a:srgbClr val="27B5BC"/>
            </a:solidFill>
            <a:prstDash val="solid"/>
          </a:ln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77240" y="3977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АПРОБАЦИЯ РАБОТЫ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77240" y="429768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Защита перед государственной экзаменационной комиссией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Открытая программная реализация на базе scikit-learn (готова к интеграции в производственные пайплайны)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50 источников по ГОСТ Р 7.0.5-2008, 33 подстрочные сноски в тексте ВКР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4 публикационных рисунка и 19 таблиц результатов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263640" y="3840480"/>
            <a:ext cx="5532120" cy="2331720"/>
          </a:xfrm>
          <a:prstGeom prst="rect">
            <a:avLst/>
          </a:prstGeom>
          <a:solidFill>
            <a:srgbClr val="0A2A33"/>
          </a:solidFill>
          <a:ln w="10160">
            <a:solidFill>
              <a:srgbClr val="27B5BC"/>
            </a:solidFill>
            <a:prstDash val="solid"/>
          </a:ln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492240" y="3977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ДАЛЬНЕЙШИЕ ИССЛЕДОВАНИЯ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492240" y="429768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Расширение на многоклассовую и ordinal-классификацию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Cost-sensitive thresholding для несбалансированных задач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Онлайн-обучение и адаптация к concept drift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VC-размерность композиций линейных моделей (теория)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Мета-обучение: рекомендация архитектуры по характеристикам датасета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548640" y="6355080"/>
            <a:ext cx="11018520" cy="36576"/>
          </a:xfrm>
          <a:prstGeom prst="rect">
            <a:avLst/>
          </a:prstGeom>
          <a:solidFill>
            <a:srgbClr val="27B5BC"/>
          </a:solidFill>
          <a:ln/>
        </p:spPr>
        <p:txBody>
          <a:bodyPr/>
          <a:lstStyle/>
          <a:p>
            <a:endParaRPr lang="ru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48640" y="64465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БЛАГОДАРЮ ЗА ВНИМАНИЕ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1847</Words>
  <Application>Microsoft Macintosh PowerPoint</Application>
  <PresentationFormat>Широкоэкранный</PresentationFormat>
  <Paragraphs>371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Исследование эффективности применения нелинейных классификаторов в задачах машинного обучения</dc:title>
  <dc:subject/>
  <dc:creator>Бабак А.Р.</dc:creator>
  <cp:keywords/>
  <dc:description/>
  <cp:lastModifiedBy>Evgenii Azarov</cp:lastModifiedBy>
  <cp:revision>13</cp:revision>
  <dcterms:created xsi:type="dcterms:W3CDTF">2026-05-05T01:03:13Z</dcterms:created>
  <dcterms:modified xsi:type="dcterms:W3CDTF">2026-05-15T07:21:32Z</dcterms:modified>
  <cp:category/>
</cp:coreProperties>
</file>